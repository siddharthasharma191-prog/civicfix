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2304A"/>
                </a:solidFill>
                <a:latin typeface="Aptos"/>
              </a:defRPr>
            </a:pPr>
            <a:r>
              <a:t>CivicFix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47D83"/>
                </a:solidFill>
                <a:latin typeface="Aptos"/>
              </a:defRPr>
            </a:pPr>
            <a:r>
              <a:t>Smart Civic Issue Reporting</a:t>
            </a:r>
          </a:p>
          <a:p>
            <a:pPr>
              <a:spcAft>
                <a:spcPts val="500"/>
              </a:spcAft>
              <a:defRPr sz="2500" b="1">
                <a:solidFill>
                  <a:srgbClr val="147D83"/>
                </a:solidFill>
                <a:latin typeface="Aptos"/>
              </a:defRPr>
            </a:pPr>
            <a:r>
              <a:t>and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63746"/>
                </a:solidFill>
                <a:latin typeface="Aptos"/>
              </a:defRPr>
            </a:pPr>
            <a:r>
              <a:t>An educational prototype for structured reporting, review and explainable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3108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572000"/>
            <a:ext cx="73152" cy="100584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7183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SDG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51937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Sustainable Cities and Communities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572000"/>
            <a:ext cx="3108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4572000"/>
            <a:ext cx="73152" cy="100584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47183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Local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51937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SQLite • Express • Vanilla 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572000"/>
            <a:ext cx="3108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4572000"/>
            <a:ext cx="73152" cy="100584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47183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Phase 6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51937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Audit and submission 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36575"/>
                </a:solidFill>
                <a:latin typeface="Aptos"/>
              </a:defRPr>
            </a:pPr>
            <a:r>
              <a:t>CivicFix • Educational prototype • SDG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3657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Problem statement and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36575"/>
                </a:solidFill>
                <a:latin typeface="Aptos"/>
              </a:defRPr>
            </a:pPr>
            <a:r>
              <a:t>The problem and intended users are hypotheses for evaluation, not validated findings.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36575"/>
                </a:solidFill>
                <a:latin typeface="Aptos"/>
              </a:defRPr>
            </a:pPr>
            <a:r>
              <a:t>CivicFix • Educational prototype • SDG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3657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6362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Potential workflow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46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Reports arrive with inconsistent details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Status and next steps can be hard to follow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Reviewers need a simple triage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1828800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56362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Target users / stakeholders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39112"/>
            <a:ext cx="48463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Community members in a hypothetical pilot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Staff or volunteers reviewing reports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Students, educators and evaluators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A64141"/>
                </a:solidFill>
                <a:latin typeface="Aptos"/>
              </a:defRPr>
            </a:pPr>
            <a:r>
              <a:t>No municipality, government service or official reporting system is connected.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63746"/>
                </a:solidFill>
                <a:latin typeface="Aptos"/>
              </a:defRPr>
            </a:pPr>
            <a:r>
              <a:t>Validation needed: interviews, workflow observation, accessibility testing and stakeholder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Proposed solution and principal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36575"/>
                </a:solidFill>
                <a:latin typeface="Aptos"/>
              </a:defRPr>
            </a:pPr>
            <a:r>
              <a:t>One local workflow from structured intake to review and aggregate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36575"/>
                </a:solidFill>
                <a:latin typeface="Aptos"/>
              </a:defRPr>
            </a:pPr>
            <a:r>
              <a:t>CivicFix • Educational prototype • SDG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3657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286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219456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50592"/>
            <a:ext cx="19202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Validated title, category, location, description and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2286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828800"/>
            <a:ext cx="73152" cy="219456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9751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50592"/>
            <a:ext cx="19202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Search, filters, report status and timestamps.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286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73152" cy="219456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9751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450592"/>
            <a:ext cx="19202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Protected admin workflow and forward-only status transitions.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828800"/>
            <a:ext cx="22860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828800"/>
            <a:ext cx="73152" cy="219456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19751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450592"/>
            <a:ext cx="19202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Priority rationale, duplicate suggestions and analytics.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Duplicate candidates never block a report; priority is guidance, not a verified safety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User journey and report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36575"/>
                </a:solidFill>
                <a:latin typeface="Aptos"/>
              </a:defRPr>
            </a:pPr>
            <a:r>
              <a:t>Illustrative system flow based on the maintained source; live runtime has not been 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36575"/>
                </a:solidFill>
                <a:latin typeface="Aptos"/>
              </a:defRPr>
            </a:pPr>
            <a:r>
              <a:t>CivicFix • Educational prototype • SDG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3657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86000"/>
            <a:ext cx="13898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239572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7D8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724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304A"/>
                </a:solidFill>
                <a:latin typeface="Aptos"/>
              </a:defRPr>
            </a:pPr>
            <a:r>
              <a:t>Submit form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1368" y="2816352"/>
            <a:ext cx="256032" cy="0"/>
          </a:xfrm>
          <a:prstGeom prst="line">
            <a:avLst/>
          </a:prstGeom>
          <a:ln w="19050">
            <a:solidFill>
              <a:srgbClr val="53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84832" y="2286000"/>
            <a:ext cx="13898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39572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7D8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7984" y="2724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304A"/>
                </a:solidFill>
                <a:latin typeface="Aptos"/>
              </a:defRPr>
            </a:pPr>
            <a:r>
              <a:t>Validate on server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816352"/>
            <a:ext cx="256032" cy="0"/>
          </a:xfrm>
          <a:prstGeom prst="line">
            <a:avLst/>
          </a:prstGeom>
          <a:ln w="19050">
            <a:solidFill>
              <a:srgbClr val="53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58184" y="2286000"/>
            <a:ext cx="13898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2" y="239572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7D8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2724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304A"/>
                </a:solidFill>
                <a:latin typeface="Aptos"/>
              </a:defRPr>
            </a:pPr>
            <a:r>
              <a:t>Store in SQLite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48072" y="2816352"/>
            <a:ext cx="256032" cy="0"/>
          </a:xfrm>
          <a:prstGeom prst="line">
            <a:avLst/>
          </a:prstGeom>
          <a:ln w="19050">
            <a:solidFill>
              <a:srgbClr val="53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31536" y="2286000"/>
            <a:ext cx="13898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239572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7D8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2724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304A"/>
                </a:solidFill>
                <a:latin typeface="Aptos"/>
              </a:defRPr>
            </a:pPr>
            <a:r>
              <a:t>Compute priority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21424" y="2816352"/>
            <a:ext cx="256032" cy="0"/>
          </a:xfrm>
          <a:prstGeom prst="line">
            <a:avLst/>
          </a:prstGeom>
          <a:ln w="19050">
            <a:solidFill>
              <a:srgbClr val="53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04888" y="2286000"/>
            <a:ext cx="13898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4616" y="239572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7D8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724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304A"/>
                </a:solidFill>
                <a:latin typeface="Aptos"/>
              </a:defRPr>
            </a:pPr>
            <a:r>
              <a:t>Suggest candidates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94776" y="2816352"/>
            <a:ext cx="256032" cy="0"/>
          </a:xfrm>
          <a:prstGeom prst="line">
            <a:avLst/>
          </a:prstGeom>
          <a:ln w="19050">
            <a:solidFill>
              <a:srgbClr val="53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78240" y="2286000"/>
            <a:ext cx="13898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239572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7D8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2724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304A"/>
                </a:solidFill>
                <a:latin typeface="Aptos"/>
              </a:defRPr>
            </a:pPr>
            <a:r>
              <a:t>Admin review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68128" y="2816352"/>
            <a:ext cx="256032" cy="0"/>
          </a:xfrm>
          <a:prstGeom prst="line">
            <a:avLst/>
          </a:prstGeom>
          <a:ln w="19050">
            <a:solidFill>
              <a:srgbClr val="536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451592" y="2286000"/>
            <a:ext cx="138988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7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61319" y="239572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7D8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4744" y="2724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12304A"/>
                </a:solidFill>
                <a:latin typeface="Aptos"/>
              </a:defRPr>
            </a:pPr>
            <a:r>
              <a:t>Update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160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263746"/>
                </a:solidFill>
                <a:latin typeface="Aptos"/>
              </a:defRPr>
            </a:pPr>
            <a:r>
              <a:t>Status path: submitted → under review → in progress → resolved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83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536575"/>
                </a:solidFill>
                <a:latin typeface="Aptos"/>
              </a:defRPr>
            </a:pPr>
            <a:r>
              <a:t>Conditional SQL updates are designed to reject stale status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Technical architecture and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36575"/>
                </a:solidFill>
                <a:latin typeface="Aptos"/>
              </a:defRPr>
            </a:pPr>
            <a:r>
              <a:t>Maintained stack; no new framework or dependency introduced in Phase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36575"/>
                </a:solidFill>
                <a:latin typeface="Aptos"/>
              </a:defRPr>
            </a:pPr>
            <a:r>
              <a:t>CivicFix • Educational prototype • SDG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3657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73152" cy="91440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563624"/>
            <a:ext cx="9875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039112"/>
            <a:ext cx="987551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HTML5 • CSS3 • Vanilla JavaScript • safe text-based DOM rendering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517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651760"/>
            <a:ext cx="73152" cy="91440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798064"/>
            <a:ext cx="9875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Application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273552"/>
            <a:ext cx="987551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Node.js • Express • JSON endpoints • Helmet security headers • server-side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886200"/>
            <a:ext cx="73152" cy="91440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032504"/>
            <a:ext cx="9875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Persistence and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507992"/>
            <a:ext cx="9875519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SQLite (node:sqlite) • migrations • parameterized SQL • priority / duplicate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36575"/>
                </a:solidFill>
                <a:latin typeface="Aptos"/>
              </a:defRPr>
            </a:pPr>
            <a:r>
              <a:t>Environment variables configure admin access; .env.example contains placeholders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Prioritization, duplicate suggestions and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36575"/>
                </a:solidFill>
                <a:latin typeface="Aptos"/>
              </a:defRPr>
            </a:pPr>
            <a:r>
              <a:t>Transparent support for human review—not automated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36575"/>
                </a:solidFill>
                <a:latin typeface="Aptos"/>
              </a:defRPr>
            </a:pPr>
            <a:r>
              <a:t>CivicFix • Educational prototype • SDG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3657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520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228600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6362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Priority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31546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minor → Low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localized → Medium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major_access → High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immediate_safety → Critical + 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2286000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6362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Duplicate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1546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Same category plus location/title-description similarity thresholds. At most five suggestions; no auto-merge or rejection.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17320"/>
            <a:ext cx="3520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417320"/>
            <a:ext cx="73152" cy="228600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56362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039112"/>
            <a:ext cx="315468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Stored-record totals and counts by status/category/priority. Aggregate-only endpoint; fictional seeds may be included.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A64141"/>
                </a:solidFill>
                <a:latin typeface="Aptos"/>
              </a:defRPr>
            </a:pPr>
            <a:r>
              <a:t>No accuracy, safety, performance or real-world impact statistics have been measured.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Testing, accessibility, security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36575"/>
                </a:solidFill>
                <a:latin typeface="Aptos"/>
              </a:defRPr>
            </a:pPr>
            <a:r>
              <a:t>Phase 6 source review and available automated checks; not live runtime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36575"/>
                </a:solidFill>
                <a:latin typeface="Aptos"/>
              </a:defRPr>
            </a:pPr>
            <a:r>
              <a:t>CivicFix • Educational prototype • SDG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3657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47218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Automated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315468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Syntax check: passed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Tests: 48 total; 32 passed; 0 failed; 16 skipped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73152" cy="150876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7218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Security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47672"/>
            <a:ext cx="315468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Signed expiring session, route auth, origin checks, bounded rate limiter, safe rendering.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258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325880"/>
            <a:ext cx="73152" cy="1508760"/>
          </a:xfrm>
          <a:prstGeom prst="rect">
            <a:avLst/>
          </a:prstGeom>
          <a:solidFill>
            <a:srgbClr val="A6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47218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Known blocker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947672"/>
            <a:ext cx="315468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npm registry DNS EAI_AGAIN; Express/Helmet unavailable; HTTP tests skipped.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Still unverified: server startup, actual HTTP responses, cookies, browser/device behavior, assistive technology and deployment.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63746"/>
                </a:solidFill>
                <a:latin typeface="Aptos"/>
              </a:defRPr>
            </a:pPr>
            <a:r>
              <a:t>No fabricated lockfile, dependency installation, browser result or deployment claim.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Evaluation plan, future scope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36575"/>
                </a:solidFill>
                <a:latin typeface="Aptos"/>
              </a:defRPr>
            </a:pPr>
            <a:r>
              <a:t>Proceed only after dependency installation and separate Phase 7 authorization.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36575"/>
                </a:solidFill>
                <a:latin typeface="Aptos"/>
              </a:defRPr>
            </a:pPr>
            <a:r>
              <a:t>CivicFix • Educational prototype • SDG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96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3657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3200400"/>
          </a:xfrm>
          <a:prstGeom prst="rect">
            <a:avLst/>
          </a:prstGeom>
          <a:solidFill>
            <a:srgbClr val="147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1790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Evaluation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484632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Resolve dependency installation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Run HTTP integration tests without skips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Test auth, cookies, stale updates and analytics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Test keyboard, screen reader and responsive behavior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Evaluate suggestions with human reviewers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73152" cy="3200400"/>
          </a:xfrm>
          <a:prstGeom prst="rect">
            <a:avLst/>
          </a:prstGeom>
          <a:solidFill>
            <a:srgbClr val="E8B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51790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93392"/>
            <a:ext cx="484632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Define data ownership and retention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Add E2E and accessibility test coverage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Consider audit log, MFA and durable revocation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Establish backups and deployment controls</a:t>
            </a:r>
          </a:p>
          <a:p>
            <a:pPr>
              <a:spcAft>
                <a:spcPts val="500"/>
              </a:spcAft>
              <a:defRPr sz="1100" b="0">
                <a:solidFill>
                  <a:srgbClr val="263746"/>
                </a:solidFill>
                <a:latin typeface="Aptos"/>
              </a:defRPr>
            </a:pPr>
            <a:r>
              <a:t>• Explore official integrations only with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Conclusion: a useful educational prototype; not production-ready or officially integrated.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